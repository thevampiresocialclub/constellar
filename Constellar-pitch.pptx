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15273" y="3838919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191446" y="4028285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00360" y="4210529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44727" y="972430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974602" y="6616308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4" y="3623638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18961" y="1659245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78069" y="4052799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8536" y="2017291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5626" y="190764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43763" y="1575048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6143" y="525520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21289" y="2650709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02947" y="6357655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7533" y="4861630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446" y="1361245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2435" y="228087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40959" y="4848715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8404" y="3338634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03932" y="6757059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7978" y="7990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41" y="5927602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68914" y="2703935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061264" y="1462423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20397" y="2255976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4852" y="618023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30669" y="2549146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93477" y="331738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28979" y="1057060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41810" y="1301652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55388" y="4139037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65981" y="265380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19765" y="2685668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86116" y="3566668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84538" y="3836134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89519" y="627471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81930" y="3056648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48832" y="2529130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15163" y="6110068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25317" y="962501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788530" y="2451543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59185" y="4362953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06008" y="2187046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523944" y="2522207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671265" y="6275087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53090" y="617793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527195" y="3928313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03843" y="4175609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795422" y="6812203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735697" y="5040891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40149" y="371190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30686" y="3298401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62327" y="4214263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28860" y="2523410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69725" y="1163165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75256" y="165609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420121" y="2955079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686715" y="399894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60220" y="3404770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112" y="1898266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494180" y="1887066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663909" y="3565990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516465" y="51215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41265" y="284527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18477" y="445280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939941" y="1302460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500430" y="5464778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329141" y="3671715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345126" y="1367083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78486" y="73837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706954" y="122825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579725" y="6493283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347845" y="4799165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004474" y="6121786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492394" y="1350180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705591" y="4476036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980189" y="6736845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600446" y="6172088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546411" y="542321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094317" y="5868962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09138" y="3023700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942811" y="194838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751647" y="1185722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736948" y="6856792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058395" y="4725594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420919" y="1989983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269152" y="6221660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184268" y="6547912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372343" y="6641564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067167" y="2819210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0175" y="258567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184095" y="3730729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36534" y="1143717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25905" y="548910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002539" y="3381244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983433" y="6416958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867384" y="131297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578354" y="534436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366488" y="1558544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821944" y="167655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091902" y="3992979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550859" y="6026341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717423" y="5659082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90351" y="4329558"/>
            <a:ext cx="16459" cy="16459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635495" y="372349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153249" y="4306028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851037" y="2160190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488973" y="1334168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838062" y="908969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729145" y="2981839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630656" y="864130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71095" y="3908374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407046" y="3467959"/>
            <a:ext cx="21945" cy="21945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2174464" y="5712364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294432" y="256735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311193" y="788306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2073452" y="6356627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55215" y="6525352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323238" y="2241381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282223" y="2949497"/>
            <a:ext cx="21945" cy="21945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729611" y="280338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973673" y="2465918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239066" y="4148213"/>
            <a:ext cx="10972" cy="1097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660079" y="2219912"/>
            <a:ext cx="10972" cy="10972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945413" y="1309520"/>
            <a:ext cx="21945" cy="21945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407771" y="797407"/>
            <a:ext cx="16459" cy="16459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624117" y="2262527"/>
            <a:ext cx="21945" cy="21945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329440" y="2782602"/>
            <a:ext cx="16459" cy="16459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720841" y="2068985"/>
            <a:ext cx="10972" cy="1097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826812" y="679339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156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FAA3A"/>
                </a:solidFill>
                <a:latin typeface="Bahnschrift"/>
              </a:rPr>
              <a:t>ELEVATOR BRIEFING ✦ ONE-SHEET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692640" y="329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7A7A8A"/>
                </a:solidFill>
                <a:latin typeface="Consolas"/>
              </a:rPr>
              <a:t>FILE  CSL-001 / E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457200" y="6492240"/>
            <a:ext cx="11274552" cy="0"/>
          </a:xfrm>
          <a:prstGeom prst="line">
            <a:avLst/>
          </a:prstGeom>
          <a:ln w="9525">
            <a:solidFill>
              <a:srgbClr val="33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CONSTELLAR ✦ ELEVATOR PITCH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 i="0" spc="800">
                <a:solidFill>
                  <a:srgbClr val="FFAA3A"/>
                </a:solidFill>
                <a:latin typeface="Bahnschrift SemiBold Condensed"/>
              </a:rPr>
              <a:t>CONSTELLAR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7200" y="2121408"/>
            <a:ext cx="5120640" cy="54864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57200" y="2240280"/>
            <a:ext cx="5120640" cy="27432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600">
                <a:solidFill>
                  <a:srgbClr val="ECECF0"/>
                </a:solidFill>
                <a:latin typeface="Bahnschrift"/>
              </a:rPr>
              <a:t>A PERSONAL STAR-MAP OF IDEAS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57200" y="3063240"/>
            <a:ext cx="73152" cy="219456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31520" y="3063240"/>
            <a:ext cx="6583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CECF0"/>
                </a:solidFill>
                <a:latin typeface="Segoe UI"/>
              </a:rPr>
              <a:t>Constellar treats your news + Reddit firehose as a map of ideas. Items are fetched, embedded, projected, and scored — then surfaced two ways: an editorial list and a star-field where similar stories cluster.
A cloud AI curator writes the take. Local machine learning learns from your clicks. Five sources publishing on one story show up as a constellation before any single feed flags it.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589520" y="868680"/>
            <a:ext cx="2194560" cy="96012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3A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589520" y="868680"/>
            <a:ext cx="91440" cy="960120"/>
          </a:xfrm>
          <a:prstGeom prst="rect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790688" y="1033272"/>
            <a:ext cx="1874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3ACFFF"/>
                </a:solidFill>
                <a:latin typeface="Bahnschrift SemiBold Condensed"/>
              </a:rPr>
              <a:t>DUAL VIEW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790688" y="139903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00">
                <a:solidFill>
                  <a:srgbClr val="ECECF0"/>
                </a:solidFill>
                <a:latin typeface="Consolas"/>
              </a:rPr>
              <a:t>list + star-map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902952" y="868680"/>
            <a:ext cx="2194560" cy="96012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02952" y="868680"/>
            <a:ext cx="91440" cy="96012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104120" y="1033272"/>
            <a:ext cx="1874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FFAA3A"/>
                </a:solidFill>
                <a:latin typeface="Bahnschrift SemiBold Condensed"/>
              </a:rPr>
              <a:t>LEARNS YOU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04120" y="139903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00">
                <a:solidFill>
                  <a:srgbClr val="ECECF0"/>
                </a:solidFill>
                <a:latin typeface="Consolas"/>
              </a:rPr>
              <a:t>clicks → preferences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589520" y="1947672"/>
            <a:ext cx="2194560" cy="96012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4E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589520" y="1947672"/>
            <a:ext cx="91440" cy="960120"/>
          </a:xfrm>
          <a:prstGeom prst="rect">
            <a:avLst/>
          </a:prstGeom>
          <a:solidFill>
            <a:srgbClr val="4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790688" y="2112264"/>
            <a:ext cx="1874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4EE0C2"/>
                </a:solidFill>
                <a:latin typeface="Bahnschrift SemiBold Condensed"/>
              </a:rPr>
              <a:t>LOCAL FIRST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790688" y="2478024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00">
                <a:solidFill>
                  <a:srgbClr val="ECECF0"/>
                </a:solidFill>
                <a:latin typeface="Consolas"/>
              </a:rPr>
              <a:t>embed · project · classify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902952" y="1947672"/>
            <a:ext cx="2194560" cy="96012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902952" y="1947672"/>
            <a:ext cx="91440" cy="96012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104120" y="2112264"/>
            <a:ext cx="1874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FFAA3A"/>
                </a:solidFill>
                <a:latin typeface="Bahnschrift SemiBold Condensed"/>
              </a:rPr>
              <a:t>CLOUD ON TOP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104120" y="2478024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00">
                <a:solidFill>
                  <a:srgbClr val="ECECF0"/>
                </a:solidFill>
                <a:latin typeface="Consolas"/>
              </a:rPr>
              <a:t>Haiku · Sonnet · cached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589520" y="3063240"/>
            <a:ext cx="4142232" cy="2194560"/>
          </a:xfrm>
          <a:prstGeom prst="roundRect">
            <a:avLst>
              <a:gd name="adj" fmla="val 5000"/>
            </a:avLst>
          </a:prstGeom>
          <a:solidFill>
            <a:srgbClr val="020208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772400" y="3172968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7A7A8A"/>
                </a:solidFill>
                <a:latin typeface="Consolas"/>
              </a:rPr>
              <a:t>INDICATIVE PROJECTION</a:t>
            </a:r>
          </a:p>
        </p:txBody>
      </p:sp>
      <p:sp>
        <p:nvSpPr>
          <p:cNvPr id="162" name="Oval 161"/>
          <p:cNvSpPr/>
          <p:nvPr/>
        </p:nvSpPr>
        <p:spPr>
          <a:xfrm>
            <a:off x="9274965" y="3752822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656357" y="4671467"/>
            <a:ext cx="16459" cy="16459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77147" y="4576461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8465238" y="4612239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931349" y="484146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9499905" y="3715391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24422" y="4293738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928128" y="3493714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8482249" y="5052267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726268" y="3746794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9091041" y="3778741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032941" y="5041269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8107437" y="3702530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384129" y="4463759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0119941" y="4050710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8470489" y="4719208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429359" y="4321315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1402619" y="4207207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599669" y="4605882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165143" y="3616165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599673" y="4098134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723677" y="4734158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072067" y="4018847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7716871" y="4791087"/>
            <a:ext cx="16459" cy="16459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165304" y="3975040"/>
            <a:ext cx="16459" cy="16459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314903" y="4034111"/>
            <a:ext cx="10972" cy="10972"/>
          </a:xfrm>
          <a:prstGeom prst="ellipse">
            <a:avLst/>
          </a:prstGeom>
          <a:solidFill>
            <a:srgbClr val="7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1155251" y="4940014"/>
            <a:ext cx="16459" cy="16459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586955" y="4828441"/>
            <a:ext cx="10972" cy="10972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691757" y="4028990"/>
            <a:ext cx="87782" cy="8778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723304" y="4060537"/>
            <a:ext cx="24688" cy="2468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640954" y="3933591"/>
            <a:ext cx="87782" cy="8778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672501" y="3965138"/>
            <a:ext cx="24688" cy="2468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564986" y="4050383"/>
            <a:ext cx="117043" cy="117043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607048" y="4092445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02334" y="3980019"/>
            <a:ext cx="146304" cy="146304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54912" y="4032597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649878" y="3989030"/>
            <a:ext cx="117043" cy="11704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691940" y="4031092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3310" y="3995137"/>
            <a:ext cx="117043" cy="117043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905372" y="4037200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412301" y="4084651"/>
            <a:ext cx="146304" cy="146304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464879" y="4137229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635677" y="4030494"/>
            <a:ext cx="146304" cy="146304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688255" y="4083072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109905" y="382402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3ACFFF"/>
                </a:solidFill>
                <a:latin typeface="Bahnschrift"/>
              </a:rPr>
              <a:t>AI ETHICS</a:t>
            </a:r>
          </a:p>
        </p:txBody>
      </p:sp>
      <p:sp>
        <p:nvSpPr>
          <p:cNvPr id="207" name="Oval 206"/>
          <p:cNvSpPr/>
          <p:nvPr/>
        </p:nvSpPr>
        <p:spPr>
          <a:xfrm>
            <a:off x="10261943" y="3825107"/>
            <a:ext cx="87782" cy="8778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0293490" y="3856654"/>
            <a:ext cx="24688" cy="2468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0590710" y="3875257"/>
            <a:ext cx="87782" cy="8778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0622257" y="3906804"/>
            <a:ext cx="24688" cy="2468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0377092" y="3789710"/>
            <a:ext cx="146304" cy="146304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0429670" y="3842288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0516987" y="3786646"/>
            <a:ext cx="146304" cy="146304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0569565" y="3839224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475645" y="3835452"/>
            <a:ext cx="117043" cy="117043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0517707" y="3877515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314594" y="4016988"/>
            <a:ext cx="87782" cy="8778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346141" y="4048535"/>
            <a:ext cx="24688" cy="2468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419306" y="3879244"/>
            <a:ext cx="146304" cy="146304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471884" y="3931822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891613" y="3692347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FFAA3A"/>
                </a:solidFill>
                <a:latin typeface="Bahnschrift"/>
              </a:rPr>
              <a:t>MARKETS</a:t>
            </a:r>
          </a:p>
        </p:txBody>
      </p:sp>
      <p:sp>
        <p:nvSpPr>
          <p:cNvPr id="222" name="Oval 221"/>
          <p:cNvSpPr/>
          <p:nvPr/>
        </p:nvSpPr>
        <p:spPr>
          <a:xfrm>
            <a:off x="8743711" y="4599039"/>
            <a:ext cx="146304" cy="146304"/>
          </a:xfrm>
          <a:prstGeom prst="ellipse">
            <a:avLst/>
          </a:prstGeom>
          <a:solidFill>
            <a:srgbClr val="FF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796289" y="4651617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547626" y="4694285"/>
            <a:ext cx="117043" cy="117043"/>
          </a:xfrm>
          <a:prstGeom prst="ellipse">
            <a:avLst/>
          </a:prstGeom>
          <a:solidFill>
            <a:srgbClr val="FF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589688" y="4736348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8777067" y="4529045"/>
            <a:ext cx="146304" cy="146304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829645" y="4581623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8686773" y="4615148"/>
            <a:ext cx="87782" cy="8778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8718320" y="4646695"/>
            <a:ext cx="24688" cy="2468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088293" y="4668609"/>
            <a:ext cx="87782" cy="87782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119840" y="4700156"/>
            <a:ext cx="24688" cy="2468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9010968" y="4633506"/>
            <a:ext cx="117043" cy="117043"/>
          </a:xfrm>
          <a:prstGeom prst="ellipse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053030" y="4675569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8228685" y="444947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FF3A4A"/>
                </a:solidFill>
                <a:latin typeface="Bahnschrift"/>
              </a:rPr>
              <a:t>CULTURE</a:t>
            </a:r>
          </a:p>
        </p:txBody>
      </p:sp>
      <p:sp>
        <p:nvSpPr>
          <p:cNvPr id="235" name="Oval 234"/>
          <p:cNvSpPr/>
          <p:nvPr/>
        </p:nvSpPr>
        <p:spPr>
          <a:xfrm>
            <a:off x="10454165" y="4620419"/>
            <a:ext cx="146304" cy="146304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506743" y="4672997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662553" y="4734242"/>
            <a:ext cx="117043" cy="117043"/>
          </a:xfrm>
          <a:prstGeom prst="ellipse">
            <a:avLst/>
          </a:prstGeom>
          <a:solidFill>
            <a:srgbClr val="4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704615" y="4776305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658585" y="4706415"/>
            <a:ext cx="117043" cy="117043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700647" y="4748478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608520" y="4653592"/>
            <a:ext cx="146304" cy="146304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661098" y="4706170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388828" y="4720060"/>
            <a:ext cx="87782" cy="87782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420375" y="4751607"/>
            <a:ext cx="24688" cy="2468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0611070" y="4691090"/>
            <a:ext cx="146304" cy="146304"/>
          </a:xfrm>
          <a:prstGeom prst="ellipse">
            <a:avLst/>
          </a:prstGeom>
          <a:solidFill>
            <a:srgbClr val="3A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0663648" y="4743668"/>
            <a:ext cx="41148" cy="4114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0498530" y="4535402"/>
            <a:ext cx="117043" cy="117043"/>
          </a:xfrm>
          <a:prstGeom prst="ellipse">
            <a:avLst/>
          </a:prstGeom>
          <a:solidFill>
            <a:srgbClr val="4EE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0540592" y="4577465"/>
            <a:ext cx="32918" cy="32918"/>
          </a:xfrm>
          <a:prstGeom prst="ellipse">
            <a:avLst/>
          </a:prstGeom>
          <a:solidFill>
            <a:srgbClr val="EC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0010394" y="444947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4EE0C2"/>
                </a:solidFill>
                <a:latin typeface="Bahnschrift"/>
              </a:rPr>
              <a:t>TECH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457200" y="5486400"/>
            <a:ext cx="11274552" cy="868680"/>
          </a:xfrm>
          <a:prstGeom prst="roundRect">
            <a:avLst>
              <a:gd name="adj" fmla="val 5000"/>
            </a:avLst>
          </a:prstGeom>
          <a:solidFill>
            <a:srgbClr val="080814"/>
          </a:solidFill>
          <a:ln w="19050">
            <a:solidFill>
              <a:srgbClr val="FFA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57200" y="5486400"/>
            <a:ext cx="164592" cy="868680"/>
          </a:xfrm>
          <a:prstGeom prst="rect">
            <a:avLst/>
          </a:prstGeom>
          <a:solidFill>
            <a:srgbClr val="FF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777240" y="56052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FFAA3A"/>
                </a:solidFill>
                <a:latin typeface="Bahnschrift"/>
              </a:rPr>
              <a:t>THE BET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77240" y="58704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CECF0"/>
                </a:solidFill>
                <a:latin typeface="Segoe UI"/>
              </a:rPr>
              <a:t>Ten dollars a month on an AI curator that actually understands what you want — instead of fighting a free aggregator's recommendation algorithm forever.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