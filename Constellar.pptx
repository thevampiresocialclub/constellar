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48070" y="1034523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725" y="64554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0834" y="1472400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98227" y="1650466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0657" y="3877881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54178" y="3957772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902204" y="319464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10015" y="3708023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30485" y="4677174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63949" y="128841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1837" y="3870437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52134" y="364653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8991" y="310793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84832" y="479370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03198" y="360179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10449" y="672203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97625" y="5192472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41217" y="6597526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86157" y="6004026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76829" y="407618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8336" y="641881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98124" y="445769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107522" y="5636760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14524" y="237976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48794" y="80304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66062" y="887015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66339" y="59762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76355" y="376805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33435" y="19094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3551" y="2609066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724" y="1037604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12517" y="404020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907" y="2873135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04659" y="6536345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5151" y="5073443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83764" y="2736196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33065" y="42689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71988" y="753888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48180" y="3887001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569294" y="4209010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486541" y="1018759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42804" y="3251730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107605" y="319575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47079" y="700802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835212" y="4746125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501918" y="6528959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13093" y="6269211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929588" y="5920683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470692" y="1145574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602621" y="3447496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893697" y="6754622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976865" y="5074049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310893" y="2438447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632830" y="3238622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661540" y="3067087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81896" y="700593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117592" y="3310036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845593" y="4478123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091725" y="5365033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838551" y="2975858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763396" y="6663625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893585" y="6493133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2107723" y="188930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832626" y="1002463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013214" y="2403094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596915" y="97678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37629" y="954981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41290" y="1459243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10551" y="2235634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170251" y="417683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076691" y="5589592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84234" y="6022481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851142" y="350133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419312" y="5322075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725843" y="4245796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52901" y="4679428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882334" y="5325169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29567" y="1899097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512791" y="191103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969782" y="6675304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431063" y="1900938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843113" y="3482162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86453" y="6461474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884196" y="138935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079512" y="2690834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182522" y="2937546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557508" y="6151807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743156" y="6054467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103320" y="64551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2068211" y="5708905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2119430" y="2769327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7738" y="632266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120545" y="3145564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041521" y="4278891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375832" y="629940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4849" y="1864830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214197" y="5622032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821048" y="630367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539276" y="61353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85335" y="496615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773211" y="574306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224105" y="834464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2122274" y="2865000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575469" y="361358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816347" y="1796077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365669" y="4311426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535114" y="3429607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230530" y="124562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87095" y="5027465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269395" y="1684870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026040" y="4458426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175358" y="2695784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384737" y="6737577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146983" y="4846722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2062927" y="6733746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62231" y="5081018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990251" y="579397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175059" y="1933498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51521" y="1271144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4167" y="2497281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57200" y="2468880"/>
            <a:ext cx="1127455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200" b="1" i="0" spc="800">
                <a:solidFill>
                  <a:srgbClr val="FFAA3A"/>
                </a:solidFill>
                <a:latin typeface="Bahnschrift SemiBold Condensed"/>
              </a:rPr>
              <a:t>CONSTELLAR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926080" y="4160520"/>
            <a:ext cx="6336792" cy="73152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926080" y="4315968"/>
            <a:ext cx="6336792" cy="36576"/>
          </a:xfrm>
          <a:prstGeom prst="rect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57200" y="452628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 spc="800">
                <a:solidFill>
                  <a:srgbClr val="ECECF0"/>
                </a:solidFill>
                <a:latin typeface="Bahnschrift"/>
              </a:rPr>
              <a:t>A PERSONAL STAR-MAP OF IDEAS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7A7A8A"/>
                </a:solidFill>
                <a:latin typeface="Segoe UI"/>
              </a:rPr>
              <a:t>showcase deck — what it is · how it works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3ACFFF"/>
                </a:solidFill>
                <a:latin typeface="Consolas"/>
              </a:rPr>
              <a:t>FILE  CSL-001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74152" y="4114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300">
                <a:solidFill>
                  <a:srgbClr val="3ACFFF"/>
                </a:solidFill>
                <a:latin typeface="Consolas"/>
              </a:rPr>
              <a:t>ISSUE 1 ✦ STARDATE 4712.6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57200" y="6263640"/>
            <a:ext cx="2194560" cy="45720"/>
          </a:xfrm>
          <a:prstGeom prst="rect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537192" y="6263640"/>
            <a:ext cx="2194560" cy="45720"/>
          </a:xfrm>
          <a:prstGeom prst="rect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48070" y="1034523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725" y="64554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0834" y="1472400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98227" y="1650466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0657" y="3877881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54178" y="3957772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902204" y="319464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10015" y="3708023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30485" y="4677174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63949" y="128841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1837" y="3870437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52134" y="364653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8991" y="310793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84832" y="479370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03198" y="360179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10449" y="672203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97625" y="5192472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41217" y="6597526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86157" y="6004026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76829" y="407618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8336" y="641881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98124" y="445769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107522" y="5636760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14524" y="237976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48794" y="80304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66062" y="887015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66339" y="59762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76355" y="376805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33435" y="19094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3551" y="2609066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724" y="1037604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12517" y="404020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907" y="2873135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04659" y="6536345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5151" y="5073443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83764" y="2736196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33065" y="42689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71988" y="753888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48180" y="3887001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569294" y="4209010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486541" y="1018759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42804" y="3251730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107605" y="319575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47079" y="700802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835212" y="4746125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501918" y="6528959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13093" y="6269211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929588" y="5920683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470692" y="1145574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602621" y="3447496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FAA3A"/>
                </a:solidFill>
                <a:latin typeface="Bahnschrift"/>
              </a:rPr>
              <a:t>WHAT THIS 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29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7A7A8A"/>
                </a:solidFill>
                <a:latin typeface="Consolas"/>
              </a:rPr>
              <a:t>PANEL 02 · MISSION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57200" y="6492240"/>
            <a:ext cx="11274552" cy="0"/>
          </a:xfrm>
          <a:prstGeom prst="line">
            <a:avLst/>
          </a:prstGeom>
          <a:ln w="9525">
            <a:solidFill>
              <a:srgbClr val="33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A7A8A"/>
                </a:solidFill>
                <a:latin typeface="Consolas"/>
              </a:rPr>
              <a:t>CONSTELLAR ✦ SHOWCASE DECK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82296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 spc="400">
                <a:solidFill>
                  <a:srgbClr val="FFAA3A"/>
                </a:solidFill>
                <a:latin typeface="Bahnschrift SemiBold Condensed"/>
              </a:rPr>
              <a:t>A FEED READER THAT MAPS IDEAS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1874519"/>
            <a:ext cx="7772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800" b="0" i="0">
                <a:solidFill>
                  <a:srgbClr val="ECECF0"/>
                </a:solidFill>
                <a:latin typeface="Segoe UI"/>
              </a:rPr>
              <a:t>Constellar pulls news and Reddit into a local database, embeds every item as a vector, and projects the result into 2D. You see the same data two ways — a familiar editorial list, and a star-field where similar items cluster.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800" b="0" i="0">
                <a:solidFill>
                  <a:srgbClr val="ECECF0"/>
                </a:solidFill>
                <a:latin typeface="Segoe UI"/>
              </a:rPr>
              <a:t>A cloud AI curator scores each item for relevance, writes a one-line take, and suggests topical tags. Local machine learning runs underneath — a scikit-learn classifier trained on your own clicks and rejects.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ECF0"/>
                </a:solidFill>
                <a:latin typeface="Segoe UI"/>
              </a:rPr>
              <a:t>Your clicks and rejects feed a learning loop that sharpens both layers over time. The system degrades gracefully: no API key gets you fetch, dedupe, a coloured constellation, and offline-named clusters.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78240" y="1874519"/>
            <a:ext cx="2926080" cy="4023360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9050">
            <a:solidFill>
              <a:srgbClr val="FFA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78240" y="2057399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300">
                <a:solidFill>
                  <a:srgbClr val="FFAA3A"/>
                </a:solidFill>
                <a:latin typeface="Bahnschrift"/>
              </a:rPr>
              <a:t>AT A GLANCE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61120" y="2514599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3ACFFF"/>
                </a:solidFill>
                <a:latin typeface="Bahnschrift"/>
              </a:rPr>
              <a:t>LOCAL FIRST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20" y="2825495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7A8A"/>
                </a:solidFill>
                <a:latin typeface="Segoe UI"/>
              </a:rPr>
              <a:t>embed · project · classify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1120" y="3191255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3ACFFF"/>
                </a:solidFill>
                <a:latin typeface="Bahnschrift"/>
              </a:rPr>
              <a:t>CLOUD-AUGMENTED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20" y="3502151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7A8A"/>
                </a:solidFill>
                <a:latin typeface="Segoe UI"/>
              </a:rPr>
              <a:t>Haiku · Sonnet · cached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3867911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3ACFFF"/>
                </a:solidFill>
                <a:latin typeface="Bahnschrift"/>
              </a:rPr>
              <a:t>LEARNS FROM YOU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20" y="4178807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7A8A"/>
                </a:solidFill>
                <a:latin typeface="Segoe UI"/>
              </a:rPr>
              <a:t>clicks → preferences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4544567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3ACFFF"/>
                </a:solidFill>
                <a:latin typeface="Bahnschrift"/>
              </a:rPr>
              <a:t>TWO PERSPECTIVES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0" y="4855463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7A8A"/>
                </a:solidFill>
                <a:latin typeface="Segoe UI"/>
              </a:rPr>
              <a:t>list view · star map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61120" y="5221223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3ACFFF"/>
                </a:solidFill>
                <a:latin typeface="Bahnschrift"/>
              </a:rPr>
              <a:t>RUNS COLD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61120" y="5532119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7A8A"/>
                </a:solidFill>
                <a:latin typeface="Segoe UI"/>
              </a:rPr>
              <a:t>works without an API key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48070" y="1034523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725" y="64554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0834" y="1472400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98227" y="1650466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0657" y="3877881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54178" y="3957772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902204" y="319464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10015" y="3708023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30485" y="4677174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63949" y="128841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1837" y="3870437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52134" y="364653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8991" y="310793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84832" y="479370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03198" y="360179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10449" y="672203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97625" y="5192472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41217" y="6597526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86157" y="6004026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76829" y="407618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8336" y="641881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98124" y="445769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107522" y="5636760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14524" y="237976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48794" y="80304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66062" y="887015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66339" y="59762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76355" y="376805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33435" y="19094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3551" y="2609066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724" y="1037604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12517" y="404020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907" y="2873135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04659" y="6536345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5151" y="5073443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83764" y="2736196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33065" y="42689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71988" y="753888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48180" y="3887001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569294" y="4209010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FAA3A"/>
                </a:solidFill>
                <a:latin typeface="Bahnschrift"/>
              </a:rPr>
              <a:t>TWO PERSPECTIVES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329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7A7A8A"/>
                </a:solidFill>
                <a:latin typeface="Consolas"/>
              </a:rPr>
              <a:t>PANEL 03 · INTERFACE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7200" y="6492240"/>
            <a:ext cx="11274552" cy="0"/>
          </a:xfrm>
          <a:prstGeom prst="line">
            <a:avLst/>
          </a:prstGeom>
          <a:ln w="9525">
            <a:solidFill>
              <a:srgbClr val="33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A7A8A"/>
                </a:solidFill>
                <a:latin typeface="Consolas"/>
              </a:rPr>
              <a:t>CONSTELLAR ✦ SHOWCASE DECK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 spc="400">
                <a:solidFill>
                  <a:srgbClr val="FFAA3A"/>
                </a:solidFill>
                <a:latin typeface="Bahnschrift SemiBold Condensed"/>
              </a:rPr>
              <a:t>THE LIST AND THE MAP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7A7A8A"/>
                </a:solidFill>
                <a:latin typeface="Segoe UI"/>
              </a:rPr>
              <a:t>Same items, two ways of reading them.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1874519"/>
            <a:ext cx="3291840" cy="4434840"/>
          </a:xfrm>
          <a:prstGeom prst="roundRect">
            <a:avLst>
              <a:gd name="adj" fmla="val 5000"/>
            </a:avLst>
          </a:prstGeom>
          <a:solidFill>
            <a:srgbClr val="0E0E1C"/>
          </a:solidFill>
          <a:ln w="19050">
            <a:solidFill>
              <a:srgbClr val="3A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1874519"/>
            <a:ext cx="3291840" cy="457200"/>
          </a:xfrm>
          <a:prstGeom prst="rect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1965959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400">
                <a:solidFill>
                  <a:srgbClr val="020208"/>
                </a:solidFill>
                <a:latin typeface="Bahnschrift SemiBold Condensed"/>
              </a:rPr>
              <a:t>LIST 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71800" y="198424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020208"/>
                </a:solidFill>
                <a:latin typeface="Consolas"/>
              </a:rPr>
              <a:t>EDITORIAL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2514599"/>
            <a:ext cx="2926080" cy="1417320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9050">
            <a:solidFill>
              <a:srgbClr val="FFA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2514599"/>
            <a:ext cx="109728" cy="1417320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2624327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FAA3A"/>
                </a:solidFill>
                <a:latin typeface="Consolas"/>
              </a:rPr>
              <a:t>FEATURED  ✦  AI 0.94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283463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CECF0"/>
                </a:solidFill>
                <a:latin typeface="Bahnschrift"/>
              </a:rPr>
              <a:t>Wallstreetbets discovers fundamentals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3172967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ACFFF"/>
                </a:solidFill>
                <a:latin typeface="Segoe UI"/>
              </a:rPr>
              <a:t>“Briefly. Then they all go back to NVDA options. A thing to watch.”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4096511"/>
            <a:ext cx="2926080" cy="713232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" y="4096511"/>
            <a:ext cx="91440" cy="713232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4187951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CECF0"/>
                </a:solidFill>
                <a:latin typeface="Segoe UI"/>
              </a:rPr>
              <a:t>Buried lede in the policy memo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4480559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7A7A8A"/>
                </a:solidFill>
                <a:latin typeface="Consolas"/>
              </a:rPr>
              <a:t>Source · 2h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34640" y="432511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FAA3A"/>
                </a:solidFill>
                <a:latin typeface="Consolas"/>
              </a:rPr>
              <a:t>0.78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" y="4919471"/>
            <a:ext cx="2926080" cy="713232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0080" y="4919471"/>
            <a:ext cx="91440" cy="713232"/>
          </a:xfrm>
          <a:prstGeom prst="rect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" y="5010911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CECF0"/>
                </a:solidFill>
                <a:latin typeface="Segoe UI"/>
              </a:rPr>
              <a:t>Aeon longread: the geometry of attention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" y="5303519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7A7A8A"/>
                </a:solidFill>
                <a:latin typeface="Consolas"/>
              </a:rPr>
              <a:t>Source · 2h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34640" y="514807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ACFFF"/>
                </a:solidFill>
                <a:latin typeface="Consolas"/>
              </a:rPr>
              <a:t>0.71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" y="5742431"/>
            <a:ext cx="2926080" cy="713232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" y="5742431"/>
            <a:ext cx="91440" cy="713232"/>
          </a:xfrm>
          <a:prstGeom prst="rect">
            <a:avLst/>
          </a:prstGeom>
          <a:solidFill>
            <a:srgbClr val="FF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8680" y="5833871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CECF0"/>
                </a:solidFill>
                <a:latin typeface="Segoe UI"/>
              </a:rPr>
              <a:t>r/vampires: photoshoot megathread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" y="6126479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7A7A8A"/>
                </a:solidFill>
                <a:latin typeface="Consolas"/>
              </a:rPr>
              <a:t>Source · 2h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34640" y="59710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F3A4A"/>
                </a:solidFill>
                <a:latin typeface="Consolas"/>
              </a:rPr>
              <a:t>0.45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931920" y="1874519"/>
            <a:ext cx="3657600" cy="4434840"/>
          </a:xfrm>
          <a:prstGeom prst="roundRect">
            <a:avLst>
              <a:gd name="adj" fmla="val 5000"/>
            </a:avLst>
          </a:prstGeom>
          <a:solidFill>
            <a:srgbClr val="0E0E1C"/>
          </a:solidFill>
          <a:ln w="19050">
            <a:solidFill>
              <a:srgbClr val="FFA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931920" y="1874519"/>
            <a:ext cx="3657600" cy="457200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60520" y="196595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400">
                <a:solidFill>
                  <a:srgbClr val="020208"/>
                </a:solidFill>
                <a:latin typeface="Bahnschrift SemiBold Condensed"/>
              </a:rPr>
              <a:t>CONSTELLATION VIEW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2280" y="198424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020208"/>
                </a:solidFill>
                <a:latin typeface="Consolas"/>
              </a:rPr>
              <a:t>SEMANTIC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977640" y="2377439"/>
            <a:ext cx="3566160" cy="384048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257938" y="2473492"/>
            <a:ext cx="30000" cy="3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773645" y="5205841"/>
            <a:ext cx="40000" cy="4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159295" y="2711325"/>
            <a:ext cx="30000" cy="3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083901" y="3217113"/>
            <a:ext cx="40000" cy="4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072271" y="3141071"/>
            <a:ext cx="40000" cy="4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920988" y="3224036"/>
            <a:ext cx="40000" cy="40000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864198" y="2402397"/>
            <a:ext cx="20000" cy="2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484750" y="3444598"/>
            <a:ext cx="20000" cy="20000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342138" y="3836542"/>
            <a:ext cx="30000" cy="30000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130623" y="5477198"/>
            <a:ext cx="40000" cy="40000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889915" y="6114670"/>
            <a:ext cx="30000" cy="3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946305" y="5562751"/>
            <a:ext cx="40000" cy="40000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036570" y="5083333"/>
            <a:ext cx="20000" cy="2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790361" y="3488827"/>
            <a:ext cx="20000" cy="2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067659" y="3837306"/>
            <a:ext cx="30000" cy="3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952211" y="3002108"/>
            <a:ext cx="30000" cy="3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67591" y="5072765"/>
            <a:ext cx="40000" cy="4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232272" y="4816060"/>
            <a:ext cx="40000" cy="4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850674" y="4152740"/>
            <a:ext cx="30000" cy="3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431735" y="3220866"/>
            <a:ext cx="30000" cy="3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794462" y="2500719"/>
            <a:ext cx="30000" cy="30000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932446" y="3187714"/>
            <a:ext cx="40000" cy="4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99831" y="4894638"/>
            <a:ext cx="30000" cy="3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613979" y="3394705"/>
            <a:ext cx="20000" cy="2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979568" y="3386492"/>
            <a:ext cx="40000" cy="40000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179420" y="3911328"/>
            <a:ext cx="20000" cy="2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794692" y="2726574"/>
            <a:ext cx="20000" cy="2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522696" y="2991846"/>
            <a:ext cx="40000" cy="40000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104530" y="3855130"/>
            <a:ext cx="40000" cy="40000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864546" y="6106846"/>
            <a:ext cx="20000" cy="2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547849" y="4995534"/>
            <a:ext cx="40000" cy="40000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718586" y="3683876"/>
            <a:ext cx="30000" cy="30000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541655" y="2389902"/>
            <a:ext cx="40000" cy="4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916927" y="4299929"/>
            <a:ext cx="20000" cy="2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232216" y="5720648"/>
            <a:ext cx="30000" cy="3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788047" y="3141353"/>
            <a:ext cx="30000" cy="3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901151" y="5367738"/>
            <a:ext cx="40000" cy="4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113572" y="4253919"/>
            <a:ext cx="20000" cy="20000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111302" y="5571433"/>
            <a:ext cx="30000" cy="3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184210" y="5749417"/>
            <a:ext cx="20000" cy="20000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015525" y="3206500"/>
            <a:ext cx="131673" cy="131673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059416" y="3250391"/>
            <a:ext cx="43891" cy="43891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865092" y="3471373"/>
            <a:ext cx="131673" cy="131673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908983" y="3515264"/>
            <a:ext cx="43891" cy="43891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934931" y="3349467"/>
            <a:ext cx="213969" cy="21396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006254" y="3420790"/>
            <a:ext cx="71323" cy="71323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13055" y="3098964"/>
            <a:ext cx="148132" cy="148132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962433" y="3148342"/>
            <a:ext cx="49377" cy="49377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996750" y="3435409"/>
            <a:ext cx="181051" cy="181051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057101" y="3495759"/>
            <a:ext cx="60350" cy="60350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596071" y="3559207"/>
            <a:ext cx="148132" cy="14813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645449" y="3608585"/>
            <a:ext cx="49377" cy="49377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932961" y="3466986"/>
            <a:ext cx="131673" cy="131673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976852" y="3510877"/>
            <a:ext cx="43891" cy="43891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128190" y="3482183"/>
            <a:ext cx="115214" cy="115214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166595" y="3520588"/>
            <a:ext cx="38404" cy="38404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909208" y="3444133"/>
            <a:ext cx="181051" cy="181051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4969559" y="3504483"/>
            <a:ext cx="60350" cy="60350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4836547" y="3616906"/>
            <a:ext cx="213969" cy="21396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4907870" y="3688229"/>
            <a:ext cx="71323" cy="71323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878281" y="3259550"/>
            <a:ext cx="131673" cy="131673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922172" y="3303441"/>
            <a:ext cx="43891" cy="43891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905557" y="3245347"/>
            <a:ext cx="213969" cy="21396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976880" y="3316670"/>
            <a:ext cx="71323" cy="71323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153204" y="28382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3ACFFF"/>
                </a:solidFill>
                <a:latin typeface="Bahnschrift"/>
              </a:rPr>
              <a:t>AI ETHICS</a:t>
            </a:r>
          </a:p>
        </p:txBody>
      </p:sp>
      <p:sp>
        <p:nvSpPr>
          <p:cNvPr id="144" name="Oval 143"/>
          <p:cNvSpPr/>
          <p:nvPr/>
        </p:nvSpPr>
        <p:spPr>
          <a:xfrm>
            <a:off x="6436544" y="3562215"/>
            <a:ext cx="181051" cy="181051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496894" y="3622565"/>
            <a:ext cx="60350" cy="60350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583813" y="3506405"/>
            <a:ext cx="115214" cy="115214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622218" y="3544810"/>
            <a:ext cx="38404" cy="38404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346209" y="3426164"/>
            <a:ext cx="115214" cy="115214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384614" y="3464569"/>
            <a:ext cx="38404" cy="38404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568836" y="3359937"/>
            <a:ext cx="115214" cy="115214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607241" y="3398342"/>
            <a:ext cx="38404" cy="38404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404653" y="3592505"/>
            <a:ext cx="148132" cy="148132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454030" y="3641883"/>
            <a:ext cx="49377" cy="49377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424029" y="3641990"/>
            <a:ext cx="115214" cy="115214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462434" y="3680395"/>
            <a:ext cx="38404" cy="38404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665659" y="3381554"/>
            <a:ext cx="115214" cy="115214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704064" y="3419959"/>
            <a:ext cx="38404" cy="38404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262624" y="3562413"/>
            <a:ext cx="115214" cy="115214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301029" y="3600818"/>
            <a:ext cx="38404" cy="38404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663191" y="3319608"/>
            <a:ext cx="148132" cy="148132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712569" y="3368986"/>
            <a:ext cx="49377" cy="49377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477399" y="3757909"/>
            <a:ext cx="213969" cy="21396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548722" y="3829232"/>
            <a:ext cx="71323" cy="71323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722315" y="2991915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FFAA3A"/>
                </a:solidFill>
                <a:latin typeface="Bahnschrift"/>
              </a:rPr>
              <a:t>MARKETS</a:t>
            </a:r>
          </a:p>
        </p:txBody>
      </p:sp>
      <p:sp>
        <p:nvSpPr>
          <p:cNvPr id="165" name="Oval 164"/>
          <p:cNvSpPr/>
          <p:nvPr/>
        </p:nvSpPr>
        <p:spPr>
          <a:xfrm>
            <a:off x="4999210" y="5036456"/>
            <a:ext cx="213969" cy="21396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5070533" y="5107779"/>
            <a:ext cx="71323" cy="71323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5029301" y="4704864"/>
            <a:ext cx="181051" cy="181051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5089652" y="4765214"/>
            <a:ext cx="60350" cy="60350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4951299" y="4811227"/>
            <a:ext cx="131673" cy="131673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995190" y="4855118"/>
            <a:ext cx="43891" cy="43891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101236" y="5280055"/>
            <a:ext cx="181051" cy="181051"/>
          </a:xfrm>
          <a:prstGeom prst="ellipse">
            <a:avLst/>
          </a:prstGeom>
          <a:solidFill>
            <a:srgbClr val="FF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161586" y="5340405"/>
            <a:ext cx="60350" cy="60350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4678071" y="4899202"/>
            <a:ext cx="131673" cy="131673"/>
          </a:xfrm>
          <a:prstGeom prst="ellipse">
            <a:avLst/>
          </a:prstGeom>
          <a:solidFill>
            <a:srgbClr val="FF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4721962" y="4943093"/>
            <a:ext cx="43891" cy="43891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5231369" y="5177721"/>
            <a:ext cx="131673" cy="131673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5275260" y="5221612"/>
            <a:ext cx="43891" cy="43891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5081290" y="4914244"/>
            <a:ext cx="148132" cy="148132"/>
          </a:xfrm>
          <a:prstGeom prst="ellipse">
            <a:avLst/>
          </a:prstGeom>
          <a:solidFill>
            <a:srgbClr val="FF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5130667" y="4963622"/>
            <a:ext cx="49377" cy="49377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5273554" y="5246504"/>
            <a:ext cx="148132" cy="148132"/>
          </a:xfrm>
          <a:prstGeom prst="ellipse">
            <a:avLst/>
          </a:prstGeom>
          <a:solidFill>
            <a:srgbClr val="FF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5322932" y="5295882"/>
            <a:ext cx="49377" cy="49377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877338" y="4864765"/>
            <a:ext cx="148132" cy="14813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926715" y="4914143"/>
            <a:ext cx="49377" cy="49377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224528" y="445129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FF3A4A"/>
                </a:solidFill>
                <a:latin typeface="Bahnschrift"/>
              </a:rPr>
              <a:t>CULTURE</a:t>
            </a:r>
          </a:p>
        </p:txBody>
      </p:sp>
      <p:sp>
        <p:nvSpPr>
          <p:cNvPr id="184" name="Oval 183"/>
          <p:cNvSpPr/>
          <p:nvPr/>
        </p:nvSpPr>
        <p:spPr>
          <a:xfrm>
            <a:off x="6432877" y="4962424"/>
            <a:ext cx="148132" cy="14813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482254" y="5011802"/>
            <a:ext cx="49377" cy="49377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6211852" y="4803140"/>
            <a:ext cx="213969" cy="21396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6283175" y="4874463"/>
            <a:ext cx="71323" cy="71323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6177408" y="4943271"/>
            <a:ext cx="181051" cy="181051"/>
          </a:xfrm>
          <a:prstGeom prst="ellipse">
            <a:avLst/>
          </a:prstGeom>
          <a:solidFill>
            <a:srgbClr val="4E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6237759" y="5003621"/>
            <a:ext cx="60350" cy="60350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6289698" y="5211823"/>
            <a:ext cx="181051" cy="181051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6350049" y="5272173"/>
            <a:ext cx="60350" cy="60350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6338477" y="4918977"/>
            <a:ext cx="213969" cy="21396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6409800" y="4990300"/>
            <a:ext cx="71323" cy="71323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6721003" y="4867982"/>
            <a:ext cx="115214" cy="115214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6759408" y="4906387"/>
            <a:ext cx="38404" cy="38404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211955" y="4916193"/>
            <a:ext cx="115214" cy="115214"/>
          </a:xfrm>
          <a:prstGeom prst="ellipse">
            <a:avLst/>
          </a:prstGeom>
          <a:solidFill>
            <a:srgbClr val="4E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250360" y="4954598"/>
            <a:ext cx="38404" cy="38404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6208288" y="4984076"/>
            <a:ext cx="148132" cy="14813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6257665" y="5033453"/>
            <a:ext cx="49377" cy="49377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6611429" y="4742542"/>
            <a:ext cx="181051" cy="181051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6671779" y="4802893"/>
            <a:ext cx="60350" cy="60350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6411679" y="4922862"/>
            <a:ext cx="181051" cy="181051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6472030" y="4983212"/>
            <a:ext cx="60350" cy="60350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6531309" y="4646149"/>
            <a:ext cx="131673" cy="131673"/>
          </a:xfrm>
          <a:prstGeom prst="ellipse">
            <a:avLst/>
          </a:prstGeom>
          <a:solidFill>
            <a:srgbClr val="4E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6575200" y="4690040"/>
            <a:ext cx="43891" cy="43891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650992" y="43744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4EE0C2"/>
                </a:solidFill>
                <a:latin typeface="Bahnschrift"/>
              </a:rPr>
              <a:t>TECH NEWS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7772400" y="1874519"/>
            <a:ext cx="3959352" cy="4434840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9050">
            <a:solidFill>
              <a:srgbClr val="3A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046720" y="2057399"/>
            <a:ext cx="34107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3ACFFF"/>
                </a:solidFill>
                <a:latin typeface="Bahnschrift"/>
              </a:rPr>
              <a:t>DUAL-VIEW DESIGN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046720" y="2560319"/>
            <a:ext cx="3410712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>
                <a:solidFill>
                  <a:srgbClr val="FFAA3A"/>
                </a:solidFill>
                <a:latin typeface="Consolas"/>
              </a:rPr>
              <a:t>▶ </a:t>
            </a:r>
            <a:r>
              <a:rPr sz="1300" b="0" i="0">
                <a:solidFill>
                  <a:srgbClr val="ECECF0"/>
                </a:solidFill>
                <a:latin typeface="Segoe UI"/>
              </a:rPr>
              <a:t>LIST is editorial. AI-scored items sorted high to low; featured cards carry the curator's take as a pull-quote.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>
                <a:solidFill>
                  <a:srgbClr val="FFAA3A"/>
                </a:solidFill>
                <a:latin typeface="Consolas"/>
              </a:rPr>
              <a:t>▶ </a:t>
            </a:r>
            <a:r>
              <a:rPr sz="1300" b="0" i="0">
                <a:solidFill>
                  <a:srgbClr val="ECECF0"/>
                </a:solidFill>
                <a:latin typeface="Segoe UI"/>
              </a:rPr>
              <a:t>CONSTELLATION is semantic. Position encodes meaning; colour encodes source; size encodes freshness or vote count; glow encodes relevance.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3ACFFF"/>
                </a:solidFill>
                <a:latin typeface="Consolas"/>
              </a:rPr>
              <a:t>▶ </a:t>
            </a:r>
            <a:r>
              <a:rPr sz="1300" b="0" i="0">
                <a:solidFill>
                  <a:srgbClr val="ECECF0"/>
                </a:solidFill>
                <a:latin typeface="Segoe UI"/>
              </a:rPr>
              <a:t>The list shows you items. The map shows you topics — when five sources publish about one thing, they cluster before any single feed flags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48070" y="1034523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725" y="64554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0834" y="1472400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98227" y="1650466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0657" y="3877881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54178" y="3957772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902204" y="319464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10015" y="3708023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30485" y="4677174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63949" y="128841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1837" y="3870437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52134" y="364653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8991" y="310793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84832" y="479370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03198" y="360179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10449" y="672203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97625" y="5192472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41217" y="6597526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86157" y="6004026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76829" y="407618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8336" y="641881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98124" y="445769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107522" y="5636760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14524" y="237976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48794" y="80304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66062" y="887015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66339" y="59762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76355" y="376805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33435" y="19094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3551" y="2609066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724" y="1037604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12517" y="404020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907" y="2873135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04659" y="6536345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5151" y="5073443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83764" y="2736196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33065" y="42689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71988" y="753888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48180" y="3887001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569294" y="4209010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FAA3A"/>
                </a:solidFill>
                <a:latin typeface="Bahnschrift"/>
              </a:rPr>
              <a:t>PIPELINE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329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7A7A8A"/>
                </a:solidFill>
                <a:latin typeface="Consolas"/>
              </a:rPr>
              <a:t>PANEL 04 · DATA PATH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7200" y="6492240"/>
            <a:ext cx="11274552" cy="0"/>
          </a:xfrm>
          <a:prstGeom prst="line">
            <a:avLst/>
          </a:prstGeom>
          <a:ln w="9525">
            <a:solidFill>
              <a:srgbClr val="33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A7A8A"/>
                </a:solidFill>
                <a:latin typeface="Consolas"/>
              </a:rPr>
              <a:t>CONSTELLAR ✦ SHOWCASE DECK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 spc="400">
                <a:solidFill>
                  <a:srgbClr val="FFAA3A"/>
                </a:solidFill>
                <a:latin typeface="Bahnschrift SemiBold Condensed"/>
              </a:rPr>
              <a:t>FROM FIREHOSE TO STAR-FIELD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A7A8A"/>
                </a:solidFill>
                <a:latin typeface="Segoe UI"/>
              </a:rPr>
              <a:t>Seven stages. Local mechanical → local machine learning → cloud AI. Each emits SSE progress.</a:t>
            </a:r>
          </a:p>
        </p:txBody>
      </p:sp>
      <p:sp>
        <p:nvSpPr>
          <p:cNvPr id="50" name="Oval 49"/>
          <p:cNvSpPr/>
          <p:nvPr/>
        </p:nvSpPr>
        <p:spPr>
          <a:xfrm>
            <a:off x="1017596" y="2446020"/>
            <a:ext cx="960120" cy="960120"/>
          </a:xfrm>
          <a:prstGeom prst="ellipse">
            <a:avLst/>
          </a:prstGeom>
          <a:solidFill>
            <a:srgbClr val="020208"/>
          </a:solidFill>
          <a:ln w="25400">
            <a:solidFill>
              <a:srgbClr val="3A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7596" y="261061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3ACFFF"/>
                </a:solidFill>
                <a:latin typeface="Consolas"/>
              </a:rPr>
              <a:t>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7596" y="285750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ECECF0"/>
                </a:solidFill>
                <a:latin typeface="Bahnschrift"/>
              </a:rPr>
              <a:t>FETCH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4716" y="3479292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00">
                <a:solidFill>
                  <a:srgbClr val="7A7A8A"/>
                </a:solidFill>
                <a:latin typeface="Consolas"/>
              </a:rPr>
              <a:t>RSS + Reddit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4716" y="369874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200">
                <a:solidFill>
                  <a:srgbClr val="3ACFFF"/>
                </a:solidFill>
                <a:latin typeface="Consolas"/>
              </a:rPr>
              <a:t>LOCAL</a:t>
            </a:r>
          </a:p>
        </p:txBody>
      </p:sp>
      <p:sp>
        <p:nvSpPr>
          <p:cNvPr id="55" name="Oval 54"/>
          <p:cNvSpPr/>
          <p:nvPr/>
        </p:nvSpPr>
        <p:spPr>
          <a:xfrm>
            <a:off x="2549869" y="2446020"/>
            <a:ext cx="960120" cy="960120"/>
          </a:xfrm>
          <a:prstGeom prst="ellipse">
            <a:avLst/>
          </a:prstGeom>
          <a:solidFill>
            <a:srgbClr val="020208"/>
          </a:solidFill>
          <a:ln w="25400">
            <a:solidFill>
              <a:srgbClr val="3A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49869" y="261061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3ACFFF"/>
                </a:solidFill>
                <a:latin typeface="Consolas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49869" y="285750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ECECF0"/>
                </a:solidFill>
                <a:latin typeface="Bahnschrift"/>
              </a:rPr>
              <a:t>DEDUPE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66989" y="3479292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00">
                <a:solidFill>
                  <a:srgbClr val="7A7A8A"/>
                </a:solidFill>
                <a:latin typeface="Consolas"/>
              </a:rPr>
              <a:t>URL hash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66989" y="369874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200">
                <a:solidFill>
                  <a:srgbClr val="3ACFFF"/>
                </a:solidFill>
                <a:latin typeface="Consolas"/>
              </a:rPr>
              <a:t>LOCAL</a:t>
            </a:r>
          </a:p>
        </p:txBody>
      </p:sp>
      <p:sp>
        <p:nvSpPr>
          <p:cNvPr id="60" name="Oval 59"/>
          <p:cNvSpPr/>
          <p:nvPr/>
        </p:nvSpPr>
        <p:spPr>
          <a:xfrm>
            <a:off x="4082142" y="2446020"/>
            <a:ext cx="960120" cy="960120"/>
          </a:xfrm>
          <a:prstGeom prst="ellipse">
            <a:avLst/>
          </a:prstGeom>
          <a:solidFill>
            <a:srgbClr val="020208"/>
          </a:solidFill>
          <a:ln w="25400">
            <a:solidFill>
              <a:srgbClr val="4E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82142" y="261061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4EE0C2"/>
                </a:solidFill>
                <a:latin typeface="Consolas"/>
              </a:rPr>
              <a:t>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82142" y="285750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ECECF0"/>
                </a:solidFill>
                <a:latin typeface="Bahnschrift"/>
              </a:rPr>
              <a:t>EMBED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99262" y="3479292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00">
                <a:solidFill>
                  <a:srgbClr val="7A7A8A"/>
                </a:solidFill>
                <a:latin typeface="Consolas"/>
              </a:rPr>
              <a:t>fastembed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99262" y="369874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200">
                <a:solidFill>
                  <a:srgbClr val="4EE0C2"/>
                </a:solidFill>
                <a:latin typeface="Consolas"/>
              </a:rPr>
              <a:t>LOCAL ML</a:t>
            </a:r>
          </a:p>
        </p:txBody>
      </p:sp>
      <p:sp>
        <p:nvSpPr>
          <p:cNvPr id="65" name="Oval 64"/>
          <p:cNvSpPr/>
          <p:nvPr/>
        </p:nvSpPr>
        <p:spPr>
          <a:xfrm>
            <a:off x="5614416" y="2446020"/>
            <a:ext cx="960120" cy="960120"/>
          </a:xfrm>
          <a:prstGeom prst="ellipse">
            <a:avLst/>
          </a:prstGeom>
          <a:solidFill>
            <a:srgbClr val="020208"/>
          </a:solidFill>
          <a:ln w="25400">
            <a:solidFill>
              <a:srgbClr val="4E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14416" y="261061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4EE0C2"/>
                </a:solidFill>
                <a:latin typeface="Consolas"/>
              </a:rPr>
              <a:t>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14416" y="285750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ECECF0"/>
                </a:solidFill>
                <a:latin typeface="Bahnschrift"/>
              </a:rPr>
              <a:t>PROJECT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31536" y="3479292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00">
                <a:solidFill>
                  <a:srgbClr val="7A7A8A"/>
                </a:solidFill>
                <a:latin typeface="Consolas"/>
              </a:rPr>
              <a:t>UMAP + HDBSCAN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31536" y="369874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200">
                <a:solidFill>
                  <a:srgbClr val="4EE0C2"/>
                </a:solidFill>
                <a:latin typeface="Consolas"/>
              </a:rPr>
              <a:t>LOCAL ML</a:t>
            </a:r>
          </a:p>
        </p:txBody>
      </p:sp>
      <p:sp>
        <p:nvSpPr>
          <p:cNvPr id="70" name="Oval 69"/>
          <p:cNvSpPr/>
          <p:nvPr/>
        </p:nvSpPr>
        <p:spPr>
          <a:xfrm>
            <a:off x="7146689" y="2446020"/>
            <a:ext cx="960120" cy="960120"/>
          </a:xfrm>
          <a:prstGeom prst="ellipse">
            <a:avLst/>
          </a:prstGeom>
          <a:solidFill>
            <a:srgbClr val="020208"/>
          </a:solidFill>
          <a:ln w="25400">
            <a:solidFill>
              <a:srgbClr val="4E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46689" y="261061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4EE0C2"/>
                </a:solidFill>
                <a:latin typeface="Consolas"/>
              </a:rPr>
              <a:t>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46689" y="285750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ECECF0"/>
                </a:solidFill>
                <a:latin typeface="Bahnschrift"/>
              </a:rPr>
              <a:t>CLASSIFY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63809" y="3479292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00">
                <a:solidFill>
                  <a:srgbClr val="7A7A8A"/>
                </a:solidFill>
                <a:latin typeface="Consolas"/>
              </a:rPr>
              <a:t>scikit-learn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63809" y="369874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200">
                <a:solidFill>
                  <a:srgbClr val="4EE0C2"/>
                </a:solidFill>
                <a:latin typeface="Consolas"/>
              </a:rPr>
              <a:t>LOCAL ML</a:t>
            </a:r>
          </a:p>
        </p:txBody>
      </p:sp>
      <p:sp>
        <p:nvSpPr>
          <p:cNvPr id="75" name="Oval 74"/>
          <p:cNvSpPr/>
          <p:nvPr/>
        </p:nvSpPr>
        <p:spPr>
          <a:xfrm>
            <a:off x="8678962" y="2446020"/>
            <a:ext cx="960120" cy="960120"/>
          </a:xfrm>
          <a:prstGeom prst="ellipse">
            <a:avLst/>
          </a:prstGeom>
          <a:solidFill>
            <a:srgbClr val="020208"/>
          </a:solidFill>
          <a:ln w="25400">
            <a:solidFill>
              <a:srgbClr val="FFA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78962" y="261061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FFAA3A"/>
                </a:solidFill>
                <a:latin typeface="Consolas"/>
              </a:rPr>
              <a:t>06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78962" y="285750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ECECF0"/>
                </a:solidFill>
                <a:latin typeface="Bahnschrift"/>
              </a:rPr>
              <a:t>CURATE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96082" y="3479292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00">
                <a:solidFill>
                  <a:srgbClr val="7A7A8A"/>
                </a:solidFill>
                <a:latin typeface="Consolas"/>
              </a:rPr>
              <a:t>Claude Haiku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96082" y="369874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200">
                <a:solidFill>
                  <a:srgbClr val="FFAA3A"/>
                </a:solidFill>
                <a:latin typeface="Consolas"/>
              </a:rPr>
              <a:t>CLOUD AI</a:t>
            </a:r>
          </a:p>
        </p:txBody>
      </p:sp>
      <p:sp>
        <p:nvSpPr>
          <p:cNvPr id="80" name="Oval 79"/>
          <p:cNvSpPr/>
          <p:nvPr/>
        </p:nvSpPr>
        <p:spPr>
          <a:xfrm>
            <a:off x="10211235" y="2446020"/>
            <a:ext cx="960120" cy="960120"/>
          </a:xfrm>
          <a:prstGeom prst="ellipse">
            <a:avLst/>
          </a:prstGeom>
          <a:solidFill>
            <a:srgbClr val="020208"/>
          </a:solidFill>
          <a:ln w="25400">
            <a:solidFill>
              <a:srgbClr val="FFA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211235" y="261061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FFAA3A"/>
                </a:solidFill>
                <a:latin typeface="Consolas"/>
              </a:rPr>
              <a:t>07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11235" y="285750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ECECF0"/>
                </a:solidFill>
                <a:latin typeface="Bahnschrift"/>
              </a:rPr>
              <a:t>NAME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28355" y="3479292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00">
                <a:solidFill>
                  <a:srgbClr val="7A7A8A"/>
                </a:solidFill>
                <a:latin typeface="Consolas"/>
              </a:rPr>
              <a:t>Claude Haiku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28355" y="369874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200">
                <a:solidFill>
                  <a:srgbClr val="FFAA3A"/>
                </a:solidFill>
                <a:latin typeface="Consolas"/>
              </a:rPr>
              <a:t>CLOUD AI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977716.5714285714" y="2926080.0"/>
            <a:ext cx="572153.1428571427" cy="0.0"/>
          </a:xfrm>
          <a:prstGeom prst="line">
            <a:avLst/>
          </a:prstGeom>
          <a:ln w="19050">
            <a:solidFill>
              <a:srgbClr val="33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509989.714285714" y="2926080.0"/>
            <a:ext cx="572153.1428571432" cy="0.0"/>
          </a:xfrm>
          <a:prstGeom prst="line">
            <a:avLst/>
          </a:prstGeom>
          <a:ln w="19050">
            <a:solidFill>
              <a:srgbClr val="33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042262.857142857" y="2926080.0"/>
            <a:ext cx="572153.1428571437" cy="0.0"/>
          </a:xfrm>
          <a:prstGeom prst="line">
            <a:avLst/>
          </a:prstGeom>
          <a:ln w="19050">
            <a:solidFill>
              <a:srgbClr val="33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574536.000000001" y="2926080.0"/>
            <a:ext cx="572153.1428571427" cy="0.0"/>
          </a:xfrm>
          <a:prstGeom prst="line">
            <a:avLst/>
          </a:prstGeom>
          <a:ln w="19050">
            <a:solidFill>
              <a:srgbClr val="33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106809.142857144" y="2926080.0"/>
            <a:ext cx="572153.1428571418" cy="0.0"/>
          </a:xfrm>
          <a:prstGeom prst="line">
            <a:avLst/>
          </a:prstGeom>
          <a:ln w="19050">
            <a:solidFill>
              <a:srgbClr val="33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639082.285714285" y="2926080.0"/>
            <a:ext cx="572153.1428571437" cy="0.0"/>
          </a:xfrm>
          <a:prstGeom prst="line">
            <a:avLst/>
          </a:prstGeom>
          <a:ln w="19050">
            <a:solidFill>
              <a:srgbClr val="33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457200" y="4617720"/>
            <a:ext cx="3566159" cy="1554480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9050">
            <a:solidFill>
              <a:srgbClr val="3A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57200" y="4617720"/>
            <a:ext cx="164592" cy="1554480"/>
          </a:xfrm>
          <a:prstGeom prst="rect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77240" y="4800600"/>
            <a:ext cx="32003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 spc="300">
                <a:solidFill>
                  <a:srgbClr val="3ACFFF"/>
                </a:solidFill>
                <a:latin typeface="Bahnschrift SemiBold Condensed"/>
              </a:rPr>
              <a:t>LOCAL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5257800"/>
            <a:ext cx="32003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CF0"/>
                </a:solidFill>
                <a:latin typeface="Segoe UI"/>
              </a:rPr>
              <a:t>mechanical — fetch, dedupe, store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206239" y="4617720"/>
            <a:ext cx="3566159" cy="1554480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9050">
            <a:solidFill>
              <a:srgbClr val="4E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206239" y="4617720"/>
            <a:ext cx="164592" cy="1554480"/>
          </a:xfrm>
          <a:prstGeom prst="rect">
            <a:avLst/>
          </a:prstGeom>
          <a:solidFill>
            <a:srgbClr val="4E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26279" y="4800600"/>
            <a:ext cx="32003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 spc="300">
                <a:solidFill>
                  <a:srgbClr val="4EE0C2"/>
                </a:solidFill>
                <a:latin typeface="Bahnschrift SemiBold Condensed"/>
              </a:rPr>
              <a:t>LOCAL ML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26279" y="5257800"/>
            <a:ext cx="32003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CF0"/>
                </a:solidFill>
                <a:latin typeface="Segoe UI"/>
              </a:rPr>
              <a:t>embed · project · classify — no LLM, no GPU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955278" y="4617720"/>
            <a:ext cx="3566159" cy="1554480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9050">
            <a:solidFill>
              <a:srgbClr val="FFA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955278" y="4617720"/>
            <a:ext cx="164592" cy="1554480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75318" y="4800600"/>
            <a:ext cx="32003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 spc="300">
                <a:solidFill>
                  <a:srgbClr val="FFAA3A"/>
                </a:solidFill>
                <a:latin typeface="Bahnschrift SemiBold Condensed"/>
              </a:rPr>
              <a:t>CLOUD AI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75318" y="5257800"/>
            <a:ext cx="32003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CF0"/>
                </a:solidFill>
                <a:latin typeface="Segoe UI"/>
              </a:rPr>
              <a:t>Claude Haiku — curate items, name clusters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48070" y="1034523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725" y="64554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0834" y="1472400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98227" y="1650466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0657" y="3877881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54178" y="3957772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902204" y="319464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10015" y="3708023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30485" y="4677174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63949" y="128841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1837" y="3870437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52134" y="364653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8991" y="310793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84832" y="479370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03198" y="360179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10449" y="672203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97625" y="5192472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41217" y="6597526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86157" y="6004026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76829" y="407618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8336" y="641881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98124" y="445769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107522" y="5636760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14524" y="237976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48794" y="80304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66062" y="887015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66339" y="59762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76355" y="376805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33435" y="19094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3551" y="2609066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724" y="1037604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12517" y="404020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907" y="2873135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04659" y="6536345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5151" y="5073443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83764" y="2736196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33065" y="42689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71988" y="753888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48180" y="3887001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569294" y="4209010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486541" y="1018759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42804" y="3251730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107605" y="319575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47079" y="700802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835212" y="4746125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501918" y="6528959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13093" y="6269211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929588" y="5920683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470692" y="1145574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602621" y="3447496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FAA3A"/>
                </a:solidFill>
                <a:latin typeface="Bahnschrift"/>
              </a:rPr>
              <a:t>INTELLIGENCE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29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7A7A8A"/>
                </a:solidFill>
                <a:latin typeface="Consolas"/>
              </a:rPr>
              <a:t>PANEL 05 · THE MINDS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57200" y="6492240"/>
            <a:ext cx="11274552" cy="0"/>
          </a:xfrm>
          <a:prstGeom prst="line">
            <a:avLst/>
          </a:prstGeom>
          <a:ln w="9525">
            <a:solidFill>
              <a:srgbClr val="33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A7A8A"/>
                </a:solidFill>
                <a:latin typeface="Consolas"/>
              </a:rPr>
              <a:t>CONSTELLAR ✦ SHOWCASE DECK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 spc="400">
                <a:solidFill>
                  <a:srgbClr val="FFAA3A"/>
                </a:solidFill>
                <a:latin typeface="Bahnschrift SemiBold Condensed"/>
              </a:rPr>
              <a:t>ONE LOCAL · THREE IN THE CLOUD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A7A8A"/>
                </a:solidFill>
                <a:latin typeface="Segoe UI"/>
              </a:rPr>
              <a:t>Each does one job. None is load-bearing — remove any and the system still works, just less precisely.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2057400"/>
            <a:ext cx="5486400" cy="2148840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9050">
            <a:solidFill>
              <a:srgbClr val="4E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200" y="2057400"/>
            <a:ext cx="164592" cy="2148840"/>
          </a:xfrm>
          <a:prstGeom prst="rect">
            <a:avLst/>
          </a:prstGeom>
          <a:solidFill>
            <a:srgbClr val="4E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 spc="400">
                <a:solidFill>
                  <a:srgbClr val="4EE0C2"/>
                </a:solidFill>
                <a:latin typeface="Bahnschrift SemiBold Condensed"/>
              </a:rPr>
              <a:t>CLASSIFIER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" y="265176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CECF0"/>
                </a:solidFill>
                <a:latin typeface="Consolas"/>
              </a:rPr>
              <a:t>LOCAL MACHINE LEARNING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292608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00">
                <a:solidFill>
                  <a:srgbClr val="7A7A8A"/>
                </a:solidFill>
                <a:latin typeface="Consolas"/>
              </a:rPr>
              <a:t>scikit-learn LogReg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" y="324612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CF0"/>
                </a:solidFill>
                <a:latin typeface="Segoe UI"/>
              </a:rPr>
              <a:t>Trains on clicks (positive) + rejects (negative) using item embeddings. Below 25 labels per class it stays cold and lets everything through. No API call, ever.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45352" y="2057400"/>
            <a:ext cx="5486400" cy="2148840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9050">
            <a:solidFill>
              <a:srgbClr val="FFA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5352" y="2057400"/>
            <a:ext cx="164592" cy="2148840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65392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 spc="400">
                <a:solidFill>
                  <a:srgbClr val="FFAA3A"/>
                </a:solidFill>
                <a:latin typeface="Bahnschrift SemiBold Condensed"/>
              </a:rPr>
              <a:t>CURATOR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65392" y="265176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CECF0"/>
                </a:solidFill>
                <a:latin typeface="Consolas"/>
              </a:rPr>
              <a:t>CLOUD AI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65392" y="292608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00">
                <a:solidFill>
                  <a:srgbClr val="7A7A8A"/>
                </a:solidFill>
                <a:latin typeface="Consolas"/>
              </a:rPr>
              <a:t>Claude Haiku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5392" y="324612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CF0"/>
                </a:solidFill>
                <a:latin typeface="Segoe UI"/>
              </a:rPr>
              <a:t>Per refresh, batched 20-at-a-time. Returns relevance (0–1), a one-line take, and 1–3 topic tags per item. System prompt + taste profile are cached.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4297680"/>
            <a:ext cx="5486400" cy="2148840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9050">
            <a:solidFill>
              <a:srgbClr val="FFA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57200" y="4297680"/>
            <a:ext cx="164592" cy="2148840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7240" y="4434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 spc="400">
                <a:solidFill>
                  <a:srgbClr val="FFAA3A"/>
                </a:solidFill>
                <a:latin typeface="Bahnschrift SemiBold Condensed"/>
              </a:rPr>
              <a:t>DISTILLER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240" y="489204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CECF0"/>
                </a:solidFill>
                <a:latin typeface="Consolas"/>
              </a:rPr>
              <a:t>CLOUD AI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516636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00">
                <a:solidFill>
                  <a:srgbClr val="7A7A8A"/>
                </a:solidFill>
                <a:latin typeface="Consolas"/>
              </a:rPr>
              <a:t>Claude Sonnet · 1×/day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7240" y="548640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CF0"/>
                </a:solidFill>
                <a:latin typeface="Segoe UI"/>
              </a:rPr>
              <a:t>Reads recent clicks + rejects and rewrites preferences.md. A ## User-locked notes section survives verbatim across runs.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45352" y="4297680"/>
            <a:ext cx="5486400" cy="2148840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9050">
            <a:solidFill>
              <a:srgbClr val="FFA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45352" y="4297680"/>
            <a:ext cx="164592" cy="2148840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65392" y="4434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 spc="400">
                <a:solidFill>
                  <a:srgbClr val="FFAA3A"/>
                </a:solidFill>
                <a:latin typeface="Bahnschrift SemiBold Condensed"/>
              </a:rPr>
              <a:t>NAMER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65392" y="489204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CECF0"/>
                </a:solidFill>
                <a:latin typeface="Consolas"/>
              </a:rPr>
              <a:t>CLOUD AI · or offline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65392" y="516636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00">
                <a:solidFill>
                  <a:srgbClr val="7A7A8A"/>
                </a:solidFill>
                <a:latin typeface="Consolas"/>
              </a:rPr>
              <a:t>Claude Haiku · fallback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65392" y="548640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CF0"/>
                </a:solidFill>
                <a:latin typeface="Segoe UI"/>
              </a:rPr>
              <a:t>Picks a name for every cluster from a curated palette grouped by mood. Falls back to deterministic round-robin without an API key.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48070" y="1034523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725" y="64554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0834" y="1472400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98227" y="1650466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0657" y="3877881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54178" y="3957772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902204" y="319464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10015" y="3708023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30485" y="4677174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63949" y="128841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1837" y="3870437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52134" y="364653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8991" y="310793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84832" y="479370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03198" y="360179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10449" y="672203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97625" y="5192472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41217" y="6597526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86157" y="6004026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76829" y="407618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8336" y="641881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98124" y="445769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107522" y="5636760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14524" y="237976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48794" y="80304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66062" y="887015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66339" y="59762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76355" y="376805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33435" y="19094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3551" y="2609066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724" y="1037604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12517" y="404020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907" y="2873135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04659" y="6536345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5151" y="5073443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83764" y="2736196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33065" y="42689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71988" y="753888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48180" y="3887001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569294" y="4209010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FAA3A"/>
                </a:solidFill>
                <a:latin typeface="Bahnschrift"/>
              </a:rPr>
              <a:t>LEARNING LOOP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329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7A7A8A"/>
                </a:solidFill>
                <a:latin typeface="Consolas"/>
              </a:rPr>
              <a:t>PANEL 06 · ADAPTATION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7200" y="6492240"/>
            <a:ext cx="11274552" cy="0"/>
          </a:xfrm>
          <a:prstGeom prst="line">
            <a:avLst/>
          </a:prstGeom>
          <a:ln w="9525">
            <a:solidFill>
              <a:srgbClr val="33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A7A8A"/>
                </a:solidFill>
                <a:latin typeface="Consolas"/>
              </a:rPr>
              <a:t>CONSTELLAR ✦ SHOWCASE DECK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 spc="400">
                <a:solidFill>
                  <a:srgbClr val="FFAA3A"/>
                </a:solidFill>
                <a:latin typeface="Bahnschrift SemiBold Condensed"/>
              </a:rPr>
              <a:t>BEHAVIOUR INTO BETTER RECOMMENDATIONS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A7A8A"/>
                </a:solidFill>
                <a:latin typeface="Segoe UI"/>
              </a:rPr>
              <a:t>Your clicks train the local classifier and a daily taste-profile distillation. The curator reads it back on every batch.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288025" y="2857926"/>
            <a:ext cx="981715" cy="568361"/>
          </a:xfrm>
          <a:prstGeom prst="line">
            <a:avLst/>
          </a:prstGeom>
          <a:ln w="19050">
            <a:solidFill>
              <a:srgbClr val="7A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625846" y="4043933"/>
            <a:ext cx="0" cy="960120"/>
          </a:xfrm>
          <a:prstGeom prst="line">
            <a:avLst/>
          </a:prstGeom>
          <a:ln w="19050">
            <a:solidFill>
              <a:srgbClr val="7A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4303790" y="5591682"/>
            <a:ext cx="950185" cy="450089"/>
          </a:xfrm>
          <a:prstGeom prst="line">
            <a:avLst/>
          </a:prstGeom>
          <a:ln w="19050">
            <a:solidFill>
              <a:srgbClr val="7A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2609864" y="5591682"/>
            <a:ext cx="950185" cy="450089"/>
          </a:xfrm>
          <a:prstGeom prst="line">
            <a:avLst/>
          </a:prstGeom>
          <a:ln w="19050">
            <a:solidFill>
              <a:srgbClr val="7A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237994" y="4043933"/>
            <a:ext cx="0" cy="960120"/>
          </a:xfrm>
          <a:prstGeom prst="line">
            <a:avLst/>
          </a:prstGeom>
          <a:ln w="19050">
            <a:solidFill>
              <a:srgbClr val="7A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594099" y="2857926"/>
            <a:ext cx="981715" cy="568361"/>
          </a:xfrm>
          <a:prstGeom prst="line">
            <a:avLst/>
          </a:prstGeom>
          <a:ln w="19050">
            <a:solidFill>
              <a:srgbClr val="7A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3246120" y="1965959"/>
            <a:ext cx="1371600" cy="1371600"/>
          </a:xfrm>
          <a:prstGeom prst="ellipse">
            <a:avLst/>
          </a:prstGeom>
          <a:solidFill>
            <a:srgbClr val="080814"/>
          </a:solidFill>
          <a:ln w="19050">
            <a:solidFill>
              <a:srgbClr val="FFA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54679" y="2514599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FFAA3A"/>
                </a:solidFill>
                <a:latin typeface="Bahnschrift"/>
              </a:rPr>
              <a:t>YOU</a:t>
            </a:r>
          </a:p>
        </p:txBody>
      </p:sp>
      <p:sp>
        <p:nvSpPr>
          <p:cNvPr id="58" name="Oval 57"/>
          <p:cNvSpPr/>
          <p:nvPr/>
        </p:nvSpPr>
        <p:spPr>
          <a:xfrm>
            <a:off x="4940046" y="2946653"/>
            <a:ext cx="1371600" cy="1371600"/>
          </a:xfrm>
          <a:prstGeom prst="ellipse">
            <a:avLst/>
          </a:prstGeom>
          <a:solidFill>
            <a:srgbClr val="080814"/>
          </a:solidFill>
          <a:ln w="19050">
            <a:solidFill>
              <a:srgbClr val="3A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48606" y="349529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3ACFFF"/>
                </a:solidFill>
                <a:latin typeface="Bahnschrift"/>
              </a:rPr>
              <a:t>CLICKS</a:t>
            </a:r>
          </a:p>
        </p:txBody>
      </p:sp>
      <p:sp>
        <p:nvSpPr>
          <p:cNvPr id="60" name="Oval 59"/>
          <p:cNvSpPr/>
          <p:nvPr/>
        </p:nvSpPr>
        <p:spPr>
          <a:xfrm>
            <a:off x="4940046" y="4729733"/>
            <a:ext cx="1371600" cy="1371600"/>
          </a:xfrm>
          <a:prstGeom prst="ellipse">
            <a:avLst/>
          </a:prstGeom>
          <a:solidFill>
            <a:srgbClr val="080814"/>
          </a:solidFill>
          <a:ln w="19050">
            <a:solidFill>
              <a:srgbClr val="3A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48606" y="5278373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3ACFFF"/>
                </a:solidFill>
                <a:latin typeface="Bahnschrift"/>
              </a:rPr>
              <a:t>PREFS.MD</a:t>
            </a:r>
          </a:p>
        </p:txBody>
      </p:sp>
      <p:sp>
        <p:nvSpPr>
          <p:cNvPr id="62" name="Oval 61"/>
          <p:cNvSpPr/>
          <p:nvPr/>
        </p:nvSpPr>
        <p:spPr>
          <a:xfrm>
            <a:off x="3246120" y="5532120"/>
            <a:ext cx="1371600" cy="1371600"/>
          </a:xfrm>
          <a:prstGeom prst="ellipse">
            <a:avLst/>
          </a:prstGeom>
          <a:solidFill>
            <a:srgbClr val="080814"/>
          </a:solidFill>
          <a:ln w="19050">
            <a:solidFill>
              <a:srgbClr val="FFA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54679" y="6080759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FFAA3A"/>
                </a:solidFill>
                <a:latin typeface="Bahnschrift"/>
              </a:rPr>
              <a:t>CURATOR</a:t>
            </a:r>
          </a:p>
        </p:txBody>
      </p:sp>
      <p:sp>
        <p:nvSpPr>
          <p:cNvPr id="64" name="Oval 63"/>
          <p:cNvSpPr/>
          <p:nvPr/>
        </p:nvSpPr>
        <p:spPr>
          <a:xfrm>
            <a:off x="1552193" y="4729733"/>
            <a:ext cx="1371600" cy="1371600"/>
          </a:xfrm>
          <a:prstGeom prst="ellipse">
            <a:avLst/>
          </a:prstGeom>
          <a:solidFill>
            <a:srgbClr val="080814"/>
          </a:solidFill>
          <a:ln w="19050">
            <a:solidFill>
              <a:srgbClr val="3A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60753" y="5278373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3ACFFF"/>
                </a:solidFill>
                <a:latin typeface="Bahnschrift"/>
              </a:rPr>
              <a:t>BETTER ITEMS</a:t>
            </a:r>
          </a:p>
        </p:txBody>
      </p:sp>
      <p:sp>
        <p:nvSpPr>
          <p:cNvPr id="66" name="Oval 65"/>
          <p:cNvSpPr/>
          <p:nvPr/>
        </p:nvSpPr>
        <p:spPr>
          <a:xfrm>
            <a:off x="1552193" y="2946653"/>
            <a:ext cx="1371600" cy="1371600"/>
          </a:xfrm>
          <a:prstGeom prst="ellipse">
            <a:avLst/>
          </a:prstGeom>
          <a:solidFill>
            <a:srgbClr val="080814"/>
          </a:solidFill>
          <a:ln w="19050">
            <a:solidFill>
              <a:srgbClr val="3A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0753" y="349529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200">
                <a:solidFill>
                  <a:srgbClr val="3ACFFF"/>
                </a:solidFill>
                <a:latin typeface="Bahnschrift"/>
              </a:rPr>
              <a:t>REJECTS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680960" y="2103120"/>
            <a:ext cx="4023360" cy="4206240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9050">
            <a:solidFill>
              <a:srgbClr val="FFA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09560" y="22860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FFAA3A"/>
                </a:solidFill>
                <a:latin typeface="Bahnschrift"/>
              </a:rPr>
              <a:t>THREE LAYERS OF SIGNAL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09560" y="278892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ACFFF"/>
                </a:solidFill>
                <a:latin typeface="Bahnschrift"/>
              </a:rPr>
              <a:t>BEHAVIOURAL LOG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09560" y="3081528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CF0"/>
                </a:solidFill>
                <a:latin typeface="Segoe UI"/>
              </a:rPr>
              <a:t>clicks.jsonl, rejects.jsonl — append-only ground truth.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09560" y="365760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4EE0C2"/>
                </a:solidFill>
                <a:latin typeface="Bahnschrift"/>
              </a:rPr>
              <a:t>LOCAL MACHINE LEARNING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09560" y="3950208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CF0"/>
                </a:solidFill>
                <a:latin typeface="Segoe UI"/>
              </a:rPr>
              <a:t>scikit-learn on item embeddings. No LLM required.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09560" y="452628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FAA3A"/>
                </a:solidFill>
                <a:latin typeface="Bahnschrift"/>
              </a:rPr>
              <a:t>TASTE PROFILE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09560" y="4818888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CF0"/>
                </a:solidFill>
                <a:latin typeface="Segoe UI"/>
              </a:rPr>
              <a:t>Sonnet rewrites preferences.md from recent signal.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09560" y="539496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F3A4A"/>
                </a:solidFill>
                <a:latin typeface="Bahnschrift"/>
              </a:rPr>
              <a:t>NOTE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09560" y="5687568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CF0"/>
                </a:solidFill>
                <a:latin typeface="Segoe UI"/>
              </a:rPr>
              <a:t>Dismisses are deliberately NOT in this loop — they're 'I handled this', not 'I dislike this'.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48070" y="1034523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725" y="64554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0834" y="1472400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98227" y="1650466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0657" y="3877881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54178" y="3957772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902204" y="319464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10015" y="3708023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30485" y="4677174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63949" y="128841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1837" y="3870437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52134" y="364653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8991" y="310793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84832" y="479370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03198" y="360179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10449" y="672203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97625" y="5192472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41217" y="6597526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86157" y="6004026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76829" y="407618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8336" y="641881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98124" y="445769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107522" y="5636760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14524" y="237976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48794" y="80304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66062" y="887015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66339" y="59762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76355" y="376805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33435" y="19094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3551" y="2609066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724" y="1037604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12517" y="404020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907" y="2873135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04659" y="6536345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5151" y="5073443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83764" y="2736196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33065" y="42689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71988" y="753888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48180" y="3887001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569294" y="4209010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486541" y="1018759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42804" y="3251730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107605" y="319575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47079" y="700802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835212" y="4746125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501918" y="6528959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13093" y="6269211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929588" y="5920683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470692" y="1145574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602621" y="3447496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893697" y="6754622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976865" y="5074049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310893" y="2438447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632830" y="3238622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661540" y="3067087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81896" y="700593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117592" y="3310036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845593" y="4478123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091725" y="5365033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838551" y="2975858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763396" y="6663625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893585" y="6493133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2107723" y="188930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832626" y="1002463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013214" y="2403094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596915" y="97678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37629" y="954981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41290" y="1459243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10551" y="2235634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170251" y="417683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156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FAA3A"/>
                </a:solidFill>
                <a:latin typeface="Bahnschrift"/>
              </a:rPr>
              <a:t>VISUAL LANGUAGE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92640" y="329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7A7A8A"/>
                </a:solidFill>
                <a:latin typeface="Consolas"/>
              </a:rPr>
              <a:t>PANEL 07 · DISPLAY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57200" y="6492240"/>
            <a:ext cx="11274552" cy="0"/>
          </a:xfrm>
          <a:prstGeom prst="line">
            <a:avLst/>
          </a:prstGeom>
          <a:ln w="9525">
            <a:solidFill>
              <a:srgbClr val="33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A7A8A"/>
                </a:solidFill>
                <a:latin typeface="Consolas"/>
              </a:rPr>
              <a:t>CONSTELLAR ✦ SHOWCASE DECK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 spc="400">
                <a:solidFill>
                  <a:srgbClr val="FFAA3A"/>
                </a:solidFill>
                <a:latin typeface="Bahnschrift SemiBold Condensed"/>
              </a:rPr>
              <a:t>READING THE CONSTELLATION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A7A8A"/>
                </a:solidFill>
                <a:latin typeface="Segoe UI"/>
              </a:rPr>
              <a:t>Every visual channel encodes something. Six dimensions, no clutter.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080" y="2121408"/>
            <a:ext cx="164592" cy="329184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0120" y="208483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FFAA3A"/>
                </a:solidFill>
                <a:latin typeface="Bahnschrift"/>
              </a:rPr>
              <a:t>POSITION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97680" y="20848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CECF0"/>
                </a:solidFill>
                <a:latin typeface="Segoe UI"/>
              </a:rPr>
              <a:t>Topical similarity (UMAP).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" y="2670048"/>
            <a:ext cx="164592" cy="329184"/>
          </a:xfrm>
          <a:prstGeom prst="rect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0120" y="26334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3ACFFF"/>
                </a:solidFill>
                <a:latin typeface="Bahnschrift"/>
              </a:rPr>
              <a:t>COLOUR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97680" y="263347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CECF0"/>
                </a:solidFill>
                <a:latin typeface="Segoe UI"/>
              </a:rPr>
              <a:t>Source — kotaku, gizmodo, subreddit hues, etc.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" y="3218688"/>
            <a:ext cx="164592" cy="329184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60120" y="318211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FFAA3A"/>
                </a:solidFill>
                <a:latin typeface="Bahnschrift"/>
              </a:rPr>
              <a:t>STAR SIZE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97680" y="318211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CECF0"/>
                </a:solidFill>
                <a:latin typeface="Segoe UI"/>
              </a:rPr>
              <a:t>Freshness curve, vote count, or ordinal position.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0080" y="3767328"/>
            <a:ext cx="164592" cy="329184"/>
          </a:xfrm>
          <a:prstGeom prst="rect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0120" y="37307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3ACFFF"/>
                </a:solidFill>
                <a:latin typeface="Bahnschrift"/>
              </a:rPr>
              <a:t>GLOW BRIGHTNESS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97680" y="373075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CECF0"/>
                </a:solidFill>
                <a:latin typeface="Segoe UI"/>
              </a:rPr>
              <a:t>AI relevance score.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0080" y="4315968"/>
            <a:ext cx="164592" cy="329184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60120" y="42793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FFAA3A"/>
                </a:solidFill>
                <a:latin typeface="Bahnschrift"/>
              </a:rPr>
              <a:t>SPIKE SHAPE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97680" y="427939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CECF0"/>
                </a:solidFill>
                <a:latin typeface="Segoe UI"/>
              </a:rPr>
              <a:t>Hash of item ID. Stable per item, 4/5/6/7-point.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0080" y="4864608"/>
            <a:ext cx="164592" cy="329184"/>
          </a:xfrm>
          <a:prstGeom prst="rect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0120" y="482803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3ACFFF"/>
                </a:solidFill>
                <a:latin typeface="Bahnschrift"/>
              </a:rPr>
              <a:t>CLUSTER LABEL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97680" y="48280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CECF0"/>
                </a:solidFill>
                <a:latin typeface="Segoe UI"/>
              </a:rPr>
              <a:t>AI- or offline-named, with a (tag, tag, tag) subtitle.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" y="5413248"/>
            <a:ext cx="164592" cy="329184"/>
          </a:xfrm>
          <a:prstGeom prst="rect">
            <a:avLst/>
          </a:prstGeom>
          <a:solidFill>
            <a:srgbClr val="FF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60120" y="53766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FF3A4A"/>
                </a:solidFill>
                <a:latin typeface="Bahnschrift"/>
              </a:rPr>
              <a:t>WHITE DWARF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97680" y="537667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CECF0"/>
                </a:solidFill>
                <a:latin typeface="Segoe UI"/>
              </a:rPr>
              <a:t>Dismissed items. Auto-purged after 90 days.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48070" y="1034523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725" y="64554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0834" y="1472400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98227" y="1650466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0657" y="3877881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54178" y="3957772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902204" y="319464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10015" y="3708023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30485" y="4677174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63949" y="128841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1837" y="3870437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52134" y="364653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8991" y="310793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84832" y="479370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03198" y="360179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10449" y="672203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97625" y="5192472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41217" y="6597526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86157" y="6004026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76829" y="407618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8336" y="641881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98124" y="445769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107522" y="5636760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14524" y="237976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48794" y="80304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66062" y="887015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66339" y="59762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76355" y="376805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33435" y="19094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3551" y="2609066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724" y="1037604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12517" y="404020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907" y="2873135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04659" y="6536345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5151" y="5073443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83764" y="2736196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33065" y="42689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71988" y="753888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48180" y="3887001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569294" y="4209010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486541" y="1018759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42804" y="3251730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107605" y="319575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47079" y="700802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835212" y="4746125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501918" y="6528959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13093" y="6269211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929588" y="5920683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470692" y="1145574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602621" y="3447496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893697" y="6754622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976865" y="5074049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310893" y="2438447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632830" y="3238622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661540" y="3067087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81896" y="700593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117592" y="3310036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845593" y="4478123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091725" y="5365033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838551" y="2975858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763396" y="6663625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893585" y="6493133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2107723" y="188930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832626" y="1002463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013214" y="2403094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596915" y="97678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37629" y="954981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41290" y="1459243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10551" y="2235634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170251" y="417683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076691" y="5589592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84234" y="6022481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851142" y="350133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419312" y="5322075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725843" y="4245796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52901" y="4679428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882334" y="5325169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29567" y="1899097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512791" y="191103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969782" y="6675304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431063" y="1900938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843113" y="3482162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86453" y="6461474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884196" y="138935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079512" y="2690834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182522" y="2937546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557508" y="6151807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743156" y="6054467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103320" y="64551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2068211" y="5708905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2119430" y="2769327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7738" y="632266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120545" y="3145564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041521" y="4278891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375832" y="629940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4849" y="1864830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214197" y="5622032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821048" y="6303678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539276" y="61353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85335" y="496615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773211" y="574306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224105" y="834464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2122274" y="2865000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575469" y="361358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816347" y="1796077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365669" y="4311426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535114" y="3429607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230530" y="124562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87095" y="5027465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269395" y="1684870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026040" y="4458426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175358" y="2695784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384737" y="6737577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146983" y="4846722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2062927" y="6733746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62231" y="5081018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990251" y="579397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175059" y="1933498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51521" y="1271144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4167" y="2497281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944426" y="236235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347362" y="7330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786710" y="3447955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153583" y="33950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753959" y="4024279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3653193" y="4318276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675220" y="5851571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748866" y="223663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3464594" y="424309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0056406" y="4903545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946901" y="5570197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178726" y="3898632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728572" y="4877314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379899" y="912753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4591615" y="3095606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7634762" y="4667994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0407" y="5470609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20927" y="3607240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865748" y="5802784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2813064" y="4457235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308459" y="526282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7521959" y="4408068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797361" y="1741522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921977" y="85513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276795" y="4608586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546033" y="3542401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685464" y="812692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799842" y="588788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3530579" y="524391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2118142" y="2653005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7089133" y="972057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1615519" y="909405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812353" y="4823485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944554" y="333395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43773" y="3372051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681295" y="964970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3853527" y="5762304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9152720" y="575462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692965" y="6182943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538017" y="269450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156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FAA3A"/>
                </a:solidFill>
                <a:latin typeface="Bahnschrift"/>
              </a:rPr>
              <a:t>THE BET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692640" y="329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7A7A8A"/>
                </a:solidFill>
                <a:latin typeface="Consolas"/>
              </a:rPr>
              <a:t>PANEL 08 · CLOSING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457200" y="6492240"/>
            <a:ext cx="11274552" cy="0"/>
          </a:xfrm>
          <a:prstGeom prst="line">
            <a:avLst/>
          </a:prstGeom>
          <a:ln w="9525">
            <a:solidFill>
              <a:srgbClr val="33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A7A8A"/>
                </a:solidFill>
                <a:latin typeface="Consolas"/>
              </a:rPr>
              <a:t>CONSTELLAR ✦ SHOWCASE DECK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57200" y="14630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 spc="600">
                <a:solidFill>
                  <a:srgbClr val="FFAA3A"/>
                </a:solidFill>
                <a:latin typeface="Bahnschrift SemiBold Condensed"/>
              </a:rPr>
              <a:t>THE TRADE-OFF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023360" y="2606040"/>
            <a:ext cx="4142232" cy="54864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371600" y="3200400"/>
            <a:ext cx="9445752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1">
                <a:solidFill>
                  <a:srgbClr val="ECECF0"/>
                </a:solidFill>
                <a:latin typeface="Segoe UI"/>
              </a:rPr>
              <a:t>You'd rather spend ten dollars a month on an AI curator that actually understands what you want than fight a free aggregator's recommendation algorithm forever.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 spc="800">
                <a:solidFill>
                  <a:srgbClr val="3ACFFF"/>
                </a:solidFill>
                <a:latin typeface="Bahnschrift"/>
              </a:rPr>
              <a:t>END TRANSMISSION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